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01" y="3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a:t>Silhouette Score Comparison</a:t>
            </a:r>
          </a:p>
        </c:rich>
      </c:tx>
      <c:overlay val="0"/>
    </c:title>
    <c:autoTitleDeleted val="0"/>
    <c:plotArea>
      <c:layout/>
      <c:barChart>
        <c:barDir val="col"/>
        <c:grouping val="clustered"/>
        <c:varyColors val="1"/>
        <c:ser>
          <c:idx val="0"/>
          <c:order val="0"/>
          <c:tx>
            <c:strRef>
              <c:f>Sheet1!$B$1</c:f>
              <c:strCache>
                <c:ptCount val="1"/>
                <c:pt idx="0">
                  <c:v>Silhouette Score</c:v>
                </c:pt>
              </c:strCache>
            </c:strRef>
          </c:tx>
          <c:invertIfNegative val="1"/>
          <c:cat>
            <c:strRef>
              <c:f>Sheet1!$A$2:$A$3</c:f>
              <c:strCache>
                <c:ptCount val="2"/>
                <c:pt idx="0">
                  <c:v>K-Means</c:v>
                </c:pt>
                <c:pt idx="1">
                  <c:v>Hierarchical</c:v>
                </c:pt>
              </c:strCache>
            </c:strRef>
          </c:cat>
          <c:val>
            <c:numRef>
              <c:f>Sheet1!$B$2:$B$3</c:f>
              <c:numCache>
                <c:formatCode>General</c:formatCode>
                <c:ptCount val="2"/>
                <c:pt idx="0">
                  <c:v>0.127</c:v>
                </c:pt>
                <c:pt idx="1">
                  <c:v>9.9599999999999994E-2</c:v>
                </c:pt>
              </c:numCache>
            </c:numRef>
          </c:val>
          <c:extLst>
            <c:ext xmlns:c16="http://schemas.microsoft.com/office/drawing/2014/chart" uri="{C3380CC4-5D6E-409C-BE32-E72D297353CC}">
              <c16:uniqueId val="{00000000-F2A9-4126-811C-B9F225939CE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300"/>
            </a:pPr>
            <a:endParaRPr lang="en-US"/>
          </a:p>
        </c:txPr>
        <c:crossAx val="-2113994440"/>
        <c:crosses val="autoZero"/>
        <c:auto val="1"/>
        <c:lblAlgn val="ctr"/>
        <c:lblOffset val="100"/>
        <c:noMultiLvlLbl val="0"/>
      </c:catAx>
      <c:valAx>
        <c:axId val="-2113994440"/>
        <c:scaling>
          <c:orientation val="minMax"/>
          <c:max val="0.15"/>
          <c:min val="0"/>
        </c:scaling>
        <c:delete val="0"/>
        <c:axPos val="l"/>
        <c:majorGridlines/>
        <c:numFmt formatCode="General" sourceLinked="1"/>
        <c:majorTickMark val="out"/>
        <c:minorTickMark val="none"/>
        <c:tickLblPos val="nextTo"/>
        <c:txPr>
          <a:bodyPr/>
          <a:lstStyle/>
          <a:p>
            <a:pPr>
              <a:defRPr sz="1100"/>
            </a:pPr>
            <a:endParaRPr lang="en-US"/>
          </a:p>
        </c:txPr>
        <c:crossAx val="-2068027336"/>
        <c:crosses val="autoZero"/>
        <c:crossBetween val="between"/>
        <c:majorUnit val="0.03"/>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8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749039" cy="6858000"/>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51560"/>
            <a:ext cx="2743200" cy="1097280"/>
          </a:xfrm>
          <a:prstGeom prst="rect">
            <a:avLst/>
          </a:prstGeom>
          <a:noFill/>
        </p:spPr>
        <p:txBody>
          <a:bodyPr wrap="square">
            <a:spAutoFit/>
          </a:bodyPr>
          <a:lstStyle/>
          <a:p>
            <a:pPr algn="l"/>
            <a:r>
              <a:rPr sz="3000" b="1">
                <a:solidFill>
                  <a:srgbClr val="FFFFFF"/>
                </a:solidFill>
                <a:latin typeface="Aptos"/>
              </a:rPr>
              <a:t>MACHINE
LEARNING</a:t>
            </a:r>
          </a:p>
        </p:txBody>
      </p:sp>
      <p:sp>
        <p:nvSpPr>
          <p:cNvPr id="5" name="TextBox 4"/>
          <p:cNvSpPr txBox="1"/>
          <p:nvPr/>
        </p:nvSpPr>
        <p:spPr>
          <a:xfrm>
            <a:off x="530352" y="2743200"/>
            <a:ext cx="2743200" cy="914400"/>
          </a:xfrm>
          <a:prstGeom prst="rect">
            <a:avLst/>
          </a:prstGeom>
          <a:noFill/>
        </p:spPr>
        <p:txBody>
          <a:bodyPr wrap="square">
            <a:spAutoFit/>
          </a:bodyPr>
          <a:lstStyle/>
          <a:p>
            <a:pPr algn="l"/>
            <a:r>
              <a:rPr sz="1700" b="0">
                <a:solidFill>
                  <a:srgbClr val="FFFFFF"/>
                </a:solidFill>
                <a:latin typeface="Aptos"/>
              </a:rPr>
              <a:t>Data Analysis
Healthcare Analytics</a:t>
            </a:r>
          </a:p>
        </p:txBody>
      </p:sp>
      <p:sp>
        <p:nvSpPr>
          <p:cNvPr id="6" name="TextBox 5"/>
          <p:cNvSpPr txBox="1"/>
          <p:nvPr/>
        </p:nvSpPr>
        <p:spPr>
          <a:xfrm>
            <a:off x="530352" y="5806440"/>
            <a:ext cx="2743200" cy="1200329"/>
          </a:xfrm>
          <a:prstGeom prst="rect">
            <a:avLst/>
          </a:prstGeom>
          <a:noFill/>
        </p:spPr>
        <p:txBody>
          <a:bodyPr wrap="square">
            <a:spAutoFit/>
          </a:bodyPr>
          <a:lstStyle/>
          <a:p>
            <a:pPr algn="l"/>
            <a:r>
              <a:rPr lang="en-IN" sz="1200" b="1" dirty="0">
                <a:solidFill>
                  <a:srgbClr val="FFFFFF"/>
                </a:solidFill>
                <a:latin typeface="Aptos"/>
              </a:rPr>
              <a:t>TEAM – 2</a:t>
            </a:r>
          </a:p>
          <a:p>
            <a:pPr algn="l"/>
            <a:r>
              <a:rPr lang="en-IN" sz="1200" b="1" dirty="0">
                <a:solidFill>
                  <a:srgbClr val="FFFFFF"/>
                </a:solidFill>
                <a:latin typeface="Aptos"/>
              </a:rPr>
              <a:t>2520030031 – </a:t>
            </a:r>
          </a:p>
          <a:p>
            <a:pPr algn="l"/>
            <a:r>
              <a:rPr lang="en-IN" sz="1200" b="1" dirty="0">
                <a:solidFill>
                  <a:srgbClr val="FFFFFF"/>
                </a:solidFill>
                <a:latin typeface="Aptos"/>
              </a:rPr>
              <a:t>2520030033 –</a:t>
            </a:r>
          </a:p>
          <a:p>
            <a:pPr algn="l"/>
            <a:r>
              <a:rPr lang="en-IN" sz="1200" b="1" dirty="0">
                <a:solidFill>
                  <a:srgbClr val="FFFFFF"/>
                </a:solidFill>
                <a:latin typeface="Aptos"/>
              </a:rPr>
              <a:t>2520030045 –</a:t>
            </a:r>
          </a:p>
          <a:p>
            <a:pPr algn="l"/>
            <a:endParaRPr lang="en-IN" sz="1200" b="1" dirty="0">
              <a:solidFill>
                <a:srgbClr val="FFFFFF"/>
              </a:solidFill>
              <a:latin typeface="Aptos"/>
            </a:endParaRPr>
          </a:p>
          <a:p>
            <a:pPr algn="l"/>
            <a:endParaRPr sz="1200" b="1" dirty="0">
              <a:solidFill>
                <a:srgbClr val="FFFFFF"/>
              </a:solidFill>
              <a:latin typeface="Aptos"/>
            </a:endParaRPr>
          </a:p>
        </p:txBody>
      </p:sp>
      <p:sp>
        <p:nvSpPr>
          <p:cNvPr id="7" name="TextBox 6"/>
          <p:cNvSpPr txBox="1"/>
          <p:nvPr/>
        </p:nvSpPr>
        <p:spPr>
          <a:xfrm>
            <a:off x="4251960" y="1143000"/>
            <a:ext cx="7132320" cy="1828800"/>
          </a:xfrm>
          <a:prstGeom prst="rect">
            <a:avLst/>
          </a:prstGeom>
          <a:noFill/>
        </p:spPr>
        <p:txBody>
          <a:bodyPr wrap="square">
            <a:spAutoFit/>
          </a:bodyPr>
          <a:lstStyle/>
          <a:p>
            <a:pPr algn="l"/>
            <a:r>
              <a:rPr sz="3200" b="1">
                <a:solidFill>
                  <a:srgbClr val="14375F"/>
                </a:solidFill>
                <a:latin typeface="Aptos"/>
              </a:rPr>
              <a:t>Patient Segmentation
Using K-Means and
Hierarchical Clustering</a:t>
            </a:r>
          </a:p>
        </p:txBody>
      </p:sp>
      <p:sp>
        <p:nvSpPr>
          <p:cNvPr id="8" name="TextBox 7"/>
          <p:cNvSpPr txBox="1"/>
          <p:nvPr/>
        </p:nvSpPr>
        <p:spPr>
          <a:xfrm>
            <a:off x="4297680" y="3246120"/>
            <a:ext cx="6675120" cy="914400"/>
          </a:xfrm>
          <a:prstGeom prst="rect">
            <a:avLst/>
          </a:prstGeom>
          <a:noFill/>
        </p:spPr>
        <p:txBody>
          <a:bodyPr wrap="square">
            <a:spAutoFit/>
          </a:bodyPr>
          <a:lstStyle/>
          <a:p>
            <a:pPr algn="l"/>
            <a:r>
              <a:rPr sz="2000" b="0">
                <a:solidFill>
                  <a:srgbClr val="232830"/>
                </a:solidFill>
                <a:latin typeface="Aptos"/>
              </a:rPr>
              <a:t>Unsupervised learning approach for discovering groups of similar patients from healthcare data.</a:t>
            </a:r>
          </a:p>
        </p:txBody>
      </p:sp>
      <p:sp>
        <p:nvSpPr>
          <p:cNvPr id="9" name="Rounded Rectangle 8"/>
          <p:cNvSpPr/>
          <p:nvPr/>
        </p:nvSpPr>
        <p:spPr>
          <a:xfrm>
            <a:off x="4297680" y="4617720"/>
            <a:ext cx="2011680" cy="914400"/>
          </a:xfrm>
          <a:prstGeom prst="roundRect">
            <a:avLst/>
          </a:prstGeom>
          <a:solidFill>
            <a:srgbClr val="E8F6ED"/>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2F7D5A"/>
                </a:solidFill>
                <a:latin typeface="Aptos Display"/>
              </a:rPr>
              <a:t>Dataset</a:t>
            </a:r>
          </a:p>
          <a:p>
            <a:pPr>
              <a:spcBef>
                <a:spcPts val="700"/>
              </a:spcBef>
              <a:defRPr sz="1500">
                <a:solidFill>
                  <a:srgbClr val="232830"/>
                </a:solidFill>
                <a:latin typeface="Aptos"/>
              </a:defRPr>
            </a:pPr>
            <a:r>
              <a:t>2,000 patients</a:t>
            </a:r>
          </a:p>
        </p:txBody>
      </p:sp>
      <p:sp>
        <p:nvSpPr>
          <p:cNvPr id="10" name="Rounded Rectangle 9"/>
          <p:cNvSpPr/>
          <p:nvPr/>
        </p:nvSpPr>
        <p:spPr>
          <a:xfrm>
            <a:off x="6492240" y="4617720"/>
            <a:ext cx="2011680" cy="914400"/>
          </a:xfrm>
          <a:prstGeom prst="roundRect">
            <a:avLst/>
          </a:prstGeom>
          <a:solidFill>
            <a:srgbClr val="F1EEFA"/>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5C4BA0"/>
                </a:solidFill>
                <a:latin typeface="Aptos Display"/>
              </a:rPr>
              <a:t>Features</a:t>
            </a:r>
          </a:p>
          <a:p>
            <a:pPr>
              <a:spcBef>
                <a:spcPts val="700"/>
              </a:spcBef>
              <a:defRPr sz="1500">
                <a:solidFill>
                  <a:srgbClr val="232830"/>
                </a:solidFill>
                <a:latin typeface="Aptos"/>
              </a:defRPr>
            </a:pPr>
            <a:r>
              <a:t>16 columns</a:t>
            </a:r>
          </a:p>
        </p:txBody>
      </p:sp>
      <p:sp>
        <p:nvSpPr>
          <p:cNvPr id="11" name="Rounded Rectangle 10"/>
          <p:cNvSpPr/>
          <p:nvPr/>
        </p:nvSpPr>
        <p:spPr>
          <a:xfrm>
            <a:off x="8686800" y="4617720"/>
            <a:ext cx="2377440" cy="914400"/>
          </a:xfrm>
          <a:prstGeom prst="roundRect">
            <a:avLst/>
          </a:prstGeom>
          <a:solidFill>
            <a:srgbClr val="FCF1E4"/>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CD782D"/>
                </a:solidFill>
                <a:latin typeface="Aptos Display"/>
              </a:rPr>
              <a:t>Clustering</a:t>
            </a:r>
          </a:p>
          <a:p>
            <a:pPr>
              <a:spcBef>
                <a:spcPts val="700"/>
              </a:spcBef>
              <a:defRPr sz="1500">
                <a:solidFill>
                  <a:srgbClr val="232830"/>
                </a:solidFill>
                <a:latin typeface="Aptos"/>
              </a:defRPr>
            </a:pPr>
            <a:r>
              <a:t>K-Means + Hierarchical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1. Abstract</a:t>
            </a:r>
          </a:p>
        </p:txBody>
      </p:sp>
      <p:sp>
        <p:nvSpPr>
          <p:cNvPr id="5" name="TextBox 4"/>
          <p:cNvSpPr txBox="1"/>
          <p:nvPr/>
        </p:nvSpPr>
        <p:spPr>
          <a:xfrm>
            <a:off x="9144000" y="182880"/>
            <a:ext cx="2514600" cy="365760"/>
          </a:xfrm>
          <a:prstGeom prst="rect">
            <a:avLst/>
          </a:prstGeom>
          <a:noFill/>
        </p:spPr>
        <p:txBody>
          <a:bodyPr wrap="none">
            <a:spAutoFit/>
          </a:bodyPr>
          <a:lstStyle/>
          <a:p>
            <a:pPr algn="r"/>
            <a:r>
              <a:rPr sz="1000">
                <a:solidFill>
                  <a:srgbClr val="FFFFFF"/>
                </a:solidFill>
                <a:latin typeface="Aptos"/>
              </a:rPr>
              <a:t>Project Overview</a:t>
            </a:r>
          </a:p>
        </p:txBody>
      </p:sp>
      <p:sp>
        <p:nvSpPr>
          <p:cNvPr id="6" name="Rounded Rectangle 5"/>
          <p:cNvSpPr/>
          <p:nvPr/>
        </p:nvSpPr>
        <p:spPr>
          <a:xfrm>
            <a:off x="640080" y="1143000"/>
            <a:ext cx="10881360" cy="448056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Abstract</a:t>
            </a:r>
          </a:p>
          <a:p>
            <a:pPr>
              <a:spcBef>
                <a:spcPts val="700"/>
              </a:spcBef>
              <a:defRPr sz="1800">
                <a:solidFill>
                  <a:srgbClr val="232830"/>
                </a:solidFill>
                <a:latin typeface="Aptos"/>
              </a:defRPr>
            </a:pPr>
            <a:r>
              <a:t>This project applies unsupervised machine learning to segment patients into groups with similar characteristics. A dataset containing 2,000 patient records and 16 features is cleaned and preprocessed using missing-value handling, categorical encoding, and numerical feature scaling. K-Means clustering is used to form patient groups, while Hierarchical Clustering provides a second clustering approach for comparison. The Elbow Method and Silhouette Score are used to evaluate different cluster counts. PCA and a dendrogram are used to visualize the clustering structure. The final analysis identifies two clusters in the tested configuration and produces cluster profiles that highlight differences in age, BMI, chronic conditions, healthcare visits, billing, and preventive-care behavior.</a:t>
            </a:r>
          </a:p>
        </p:txBody>
      </p:sp>
      <p:sp>
        <p:nvSpPr>
          <p:cNvPr id="7" name="Rectangle 6"/>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2. Problem Statement &amp; Objectives</a:t>
            </a:r>
          </a:p>
        </p:txBody>
      </p:sp>
      <p:sp>
        <p:nvSpPr>
          <p:cNvPr id="5" name="Rounded Rectangle 4"/>
          <p:cNvSpPr/>
          <p:nvPr/>
        </p:nvSpPr>
        <p:spPr>
          <a:xfrm>
            <a:off x="594360" y="1097280"/>
            <a:ext cx="5394960" cy="452628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Problem Statement</a:t>
            </a:r>
          </a:p>
          <a:p>
            <a:pPr>
              <a:spcBef>
                <a:spcPts val="700"/>
              </a:spcBef>
              <a:defRPr sz="1800">
                <a:solidFill>
                  <a:srgbClr val="232830"/>
                </a:solidFill>
                <a:latin typeface="Aptos"/>
              </a:defRPr>
            </a:pPr>
            <a:r>
              <a:t>Healthcare datasets contain many patient characteristics, but predefined labels are not always available. The project aims to discover natural patient groups from demographic, physical, utilization, financial, and preventive-care features.</a:t>
            </a:r>
          </a:p>
        </p:txBody>
      </p:sp>
      <p:sp>
        <p:nvSpPr>
          <p:cNvPr id="6" name="Rounded Rectangle 5"/>
          <p:cNvSpPr/>
          <p:nvPr/>
        </p:nvSpPr>
        <p:spPr>
          <a:xfrm>
            <a:off x="6217920" y="1097280"/>
            <a:ext cx="5394960" cy="4526280"/>
          </a:xfrm>
          <a:prstGeom prst="roundRect">
            <a:avLst/>
          </a:prstGeom>
          <a:solidFill>
            <a:srgbClr val="E8F6ED"/>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lang="en-IN" sz="1900" b="1" dirty="0">
                <a:solidFill>
                  <a:srgbClr val="2F7D5A"/>
                </a:solidFill>
                <a:latin typeface="Aptos Display"/>
              </a:rPr>
              <a:t>Objective</a:t>
            </a:r>
          </a:p>
          <a:p>
            <a:pPr algn="ctr"/>
            <a:endParaRPr lang="en-IN" sz="1900" b="1" dirty="0">
              <a:solidFill>
                <a:srgbClr val="2F7D5A"/>
              </a:solidFill>
              <a:latin typeface="Aptos Display"/>
            </a:endParaRPr>
          </a:p>
          <a:p>
            <a:pPr algn="ctr"/>
            <a:endParaRPr lang="en-IN" sz="1900" b="1" dirty="0">
              <a:solidFill>
                <a:srgbClr val="2F7D5A"/>
              </a:solidFill>
              <a:latin typeface="Aptos Display"/>
            </a:endParaRPr>
          </a:p>
          <a:p>
            <a:pPr algn="ctr"/>
            <a:endParaRPr lang="en-IN" sz="1900" b="1" dirty="0">
              <a:solidFill>
                <a:srgbClr val="2F7D5A"/>
              </a:solidFill>
              <a:latin typeface="Aptos Display"/>
            </a:endParaRPr>
          </a:p>
          <a:p>
            <a:pPr algn="ctr"/>
            <a:endParaRPr lang="en-IN" sz="1900" b="1" dirty="0">
              <a:solidFill>
                <a:srgbClr val="2F7D5A"/>
              </a:solidFill>
              <a:latin typeface="Aptos Display"/>
            </a:endParaRPr>
          </a:p>
          <a:p>
            <a:pPr algn="ctr"/>
            <a:endParaRPr lang="en-IN" sz="1900" b="1" dirty="0">
              <a:solidFill>
                <a:srgbClr val="2F7D5A"/>
              </a:solidFill>
              <a:latin typeface="Aptos Display"/>
            </a:endParaRPr>
          </a:p>
          <a:p>
            <a:pPr algn="ctr"/>
            <a:endParaRPr lang="en-IN" sz="1900" b="1" dirty="0">
              <a:solidFill>
                <a:srgbClr val="2F7D5A"/>
              </a:solidFill>
              <a:latin typeface="Aptos Display"/>
            </a:endParaRPr>
          </a:p>
        </p:txBody>
      </p:sp>
      <p:sp>
        <p:nvSpPr>
          <p:cNvPr id="7" name="TextBox 6"/>
          <p:cNvSpPr txBox="1"/>
          <p:nvPr/>
        </p:nvSpPr>
        <p:spPr>
          <a:xfrm>
            <a:off x="6446520" y="2688610"/>
            <a:ext cx="4963008" cy="2284728"/>
          </a:xfrm>
          <a:prstGeom prst="rect">
            <a:avLst/>
          </a:prstGeom>
          <a:noFill/>
        </p:spPr>
        <p:txBody>
          <a:bodyPr wrap="square" lIns="45720" tIns="27432" rIns="45720">
            <a:spAutoFit/>
          </a:bodyPr>
          <a:lstStyle/>
          <a:p>
            <a:pPr>
              <a:spcAft>
                <a:spcPts val="1000"/>
              </a:spcAft>
              <a:defRPr sz="1700">
                <a:solidFill>
                  <a:srgbClr val="232830"/>
                </a:solidFill>
                <a:latin typeface="Aptos"/>
              </a:defRPr>
            </a:pPr>
            <a:r>
              <a:rPr dirty="0"/>
              <a:t>• Prepare and clean patient data</a:t>
            </a:r>
          </a:p>
          <a:p>
            <a:pPr>
              <a:spcAft>
                <a:spcPts val="1000"/>
              </a:spcAft>
              <a:defRPr sz="1700">
                <a:solidFill>
                  <a:srgbClr val="232830"/>
                </a:solidFill>
                <a:latin typeface="Aptos"/>
              </a:defRPr>
            </a:pPr>
            <a:r>
              <a:rPr dirty="0"/>
              <a:t>• Explore important patient characteristics</a:t>
            </a:r>
          </a:p>
          <a:p>
            <a:pPr>
              <a:spcAft>
                <a:spcPts val="1000"/>
              </a:spcAft>
              <a:defRPr sz="1700">
                <a:solidFill>
                  <a:srgbClr val="232830"/>
                </a:solidFill>
                <a:latin typeface="Aptos"/>
              </a:defRPr>
            </a:pPr>
            <a:r>
              <a:rPr dirty="0"/>
              <a:t>• Apply K-Means clustering</a:t>
            </a:r>
          </a:p>
          <a:p>
            <a:pPr>
              <a:spcAft>
                <a:spcPts val="1000"/>
              </a:spcAft>
              <a:defRPr sz="1700">
                <a:solidFill>
                  <a:srgbClr val="232830"/>
                </a:solidFill>
                <a:latin typeface="Aptos"/>
              </a:defRPr>
            </a:pPr>
            <a:r>
              <a:rPr dirty="0"/>
              <a:t>• Apply Hierarchical Clustering</a:t>
            </a:r>
          </a:p>
          <a:p>
            <a:pPr>
              <a:spcAft>
                <a:spcPts val="1000"/>
              </a:spcAft>
              <a:defRPr sz="1700">
                <a:solidFill>
                  <a:srgbClr val="232830"/>
                </a:solidFill>
                <a:latin typeface="Aptos"/>
              </a:defRPr>
            </a:pPr>
            <a:r>
              <a:rPr dirty="0"/>
              <a:t>• Evaluate cluster quality using Silhouette Score</a:t>
            </a:r>
          </a:p>
          <a:p>
            <a:pPr>
              <a:spcAft>
                <a:spcPts val="1000"/>
              </a:spcAft>
              <a:defRPr sz="1700">
                <a:solidFill>
                  <a:srgbClr val="232830"/>
                </a:solidFill>
                <a:latin typeface="Aptos"/>
              </a:defRPr>
            </a:pPr>
            <a:r>
              <a:rPr dirty="0"/>
              <a:t>• Visualize and interpret the resulting patient groups</a:t>
            </a:r>
          </a:p>
        </p:txBody>
      </p:sp>
      <p:sp>
        <p:nvSpPr>
          <p:cNvPr id="8" name="Rectangle 7"/>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3. Dataset &amp; Features</a:t>
            </a:r>
          </a:p>
        </p:txBody>
      </p:sp>
      <p:sp>
        <p:nvSpPr>
          <p:cNvPr id="5" name="Rounded Rectangle 4"/>
          <p:cNvSpPr/>
          <p:nvPr/>
        </p:nvSpPr>
        <p:spPr>
          <a:xfrm>
            <a:off x="594360" y="1051560"/>
            <a:ext cx="2743200" cy="114300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Records</a:t>
            </a:r>
          </a:p>
          <a:p>
            <a:pPr>
              <a:spcBef>
                <a:spcPts val="700"/>
              </a:spcBef>
              <a:defRPr sz="1800">
                <a:solidFill>
                  <a:srgbClr val="232830"/>
                </a:solidFill>
                <a:latin typeface="Aptos"/>
              </a:defRPr>
            </a:pPr>
            <a:r>
              <a:t>2,000 patient records</a:t>
            </a:r>
          </a:p>
        </p:txBody>
      </p:sp>
      <p:sp>
        <p:nvSpPr>
          <p:cNvPr id="6" name="Rounded Rectangle 5"/>
          <p:cNvSpPr/>
          <p:nvPr/>
        </p:nvSpPr>
        <p:spPr>
          <a:xfrm>
            <a:off x="3566160" y="1051560"/>
            <a:ext cx="2743200" cy="1143000"/>
          </a:xfrm>
          <a:prstGeom prst="roundRect">
            <a:avLst/>
          </a:prstGeom>
          <a:solidFill>
            <a:srgbClr val="F1EEFA"/>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5C4BA0"/>
                </a:solidFill>
                <a:latin typeface="Aptos Display"/>
              </a:rPr>
              <a:t>Features</a:t>
            </a:r>
          </a:p>
          <a:p>
            <a:pPr>
              <a:spcBef>
                <a:spcPts val="700"/>
              </a:spcBef>
              <a:defRPr sz="1800">
                <a:solidFill>
                  <a:srgbClr val="232830"/>
                </a:solidFill>
                <a:latin typeface="Aptos"/>
              </a:defRPr>
            </a:pPr>
            <a:r>
              <a:t>16 columns</a:t>
            </a:r>
          </a:p>
        </p:txBody>
      </p:sp>
      <p:sp>
        <p:nvSpPr>
          <p:cNvPr id="7" name="Rounded Rectangle 6"/>
          <p:cNvSpPr/>
          <p:nvPr/>
        </p:nvSpPr>
        <p:spPr>
          <a:xfrm>
            <a:off x="6537960" y="1051560"/>
            <a:ext cx="4983480" cy="1143000"/>
          </a:xfrm>
          <a:prstGeom prst="roundRect">
            <a:avLst/>
          </a:prstGeom>
          <a:solidFill>
            <a:srgbClr val="E8F6ED"/>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2F7D5A"/>
                </a:solidFill>
                <a:latin typeface="Aptos Display"/>
              </a:rPr>
              <a:t>Learning Type</a:t>
            </a:r>
          </a:p>
          <a:p>
            <a:pPr>
              <a:spcBef>
                <a:spcPts val="700"/>
              </a:spcBef>
              <a:defRPr sz="1700">
                <a:solidFill>
                  <a:srgbClr val="232830"/>
                </a:solidFill>
                <a:latin typeface="Aptos"/>
              </a:defRPr>
            </a:pPr>
            <a:r>
              <a:t>Unsupervised learning — no predefined cluster labels</a:t>
            </a:r>
          </a:p>
        </p:txBody>
      </p:sp>
      <p:sp>
        <p:nvSpPr>
          <p:cNvPr id="8" name="Rounded Rectangle 7"/>
          <p:cNvSpPr/>
          <p:nvPr/>
        </p:nvSpPr>
        <p:spPr>
          <a:xfrm>
            <a:off x="594360" y="2468880"/>
            <a:ext cx="5349240" cy="260604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Main Numerical Features</a:t>
            </a:r>
          </a:p>
          <a:p>
            <a:pPr>
              <a:spcBef>
                <a:spcPts val="700"/>
              </a:spcBef>
              <a:defRPr sz="1800">
                <a:solidFill>
                  <a:srgbClr val="232830"/>
                </a:solidFill>
                <a:latin typeface="Aptos"/>
              </a:defRPr>
            </a:pPr>
            <a:r>
              <a:t>Age • Height • Weight • BMI</a:t>
            </a:r>
            <a:br/>
            <a:r>
              <a:t>Chronic conditions • Annual visits</a:t>
            </a:r>
            <a:br/>
            <a:r>
              <a:t>Average billing amount • Days since last visit</a:t>
            </a:r>
            <a:br/>
            <a:r>
              <a:t>Preventive-care flag</a:t>
            </a:r>
          </a:p>
        </p:txBody>
      </p:sp>
      <p:sp>
        <p:nvSpPr>
          <p:cNvPr id="9" name="Rounded Rectangle 8"/>
          <p:cNvSpPr/>
          <p:nvPr/>
        </p:nvSpPr>
        <p:spPr>
          <a:xfrm>
            <a:off x="6217920" y="2468880"/>
            <a:ext cx="5303520" cy="2606040"/>
          </a:xfrm>
          <a:prstGeom prst="roundRect">
            <a:avLst/>
          </a:prstGeom>
          <a:solidFill>
            <a:srgbClr val="F1EEFA"/>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5C4BA0"/>
                </a:solidFill>
                <a:latin typeface="Aptos Display"/>
              </a:rPr>
              <a:t>Categorical Features</a:t>
            </a:r>
          </a:p>
          <a:p>
            <a:pPr>
              <a:spcBef>
                <a:spcPts val="700"/>
              </a:spcBef>
              <a:defRPr sz="1800">
                <a:solidFill>
                  <a:srgbClr val="232830"/>
                </a:solidFill>
                <a:latin typeface="Aptos"/>
              </a:defRPr>
            </a:pPr>
            <a:r>
              <a:t>Gender • State • Insurance type • Primary condition</a:t>
            </a:r>
            <a:br/>
            <a:br/>
            <a:r>
              <a:t>PatientID is treated as an identifier rather than a clustering feature.</a:t>
            </a:r>
          </a:p>
        </p:txBody>
      </p:sp>
      <p:sp>
        <p:nvSpPr>
          <p:cNvPr id="10" name="TextBox 9"/>
          <p:cNvSpPr txBox="1"/>
          <p:nvPr/>
        </p:nvSpPr>
        <p:spPr>
          <a:xfrm>
            <a:off x="640080" y="5623560"/>
            <a:ext cx="10972800" cy="411480"/>
          </a:xfrm>
          <a:prstGeom prst="rect">
            <a:avLst/>
          </a:prstGeom>
          <a:noFill/>
        </p:spPr>
        <p:txBody>
          <a:bodyPr wrap="square">
            <a:spAutoFit/>
          </a:bodyPr>
          <a:lstStyle/>
          <a:p>
            <a:pPr algn="ctr"/>
            <a:r>
              <a:rPr sz="1700" b="1">
                <a:solidFill>
                  <a:srgbClr val="14375F"/>
                </a:solidFill>
                <a:latin typeface="Aptos"/>
              </a:rPr>
              <a:t>Dataset file: patient_segmentation_dataset.csv</a:t>
            </a:r>
          </a:p>
        </p:txBody>
      </p:sp>
      <p:sp>
        <p:nvSpPr>
          <p:cNvPr id="11" name="Rectangle 10"/>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4. Data Preprocessing</a:t>
            </a:r>
          </a:p>
        </p:txBody>
      </p:sp>
      <p:sp>
        <p:nvSpPr>
          <p:cNvPr id="5" name="Rounded Rectangle 4"/>
          <p:cNvSpPr/>
          <p:nvPr/>
        </p:nvSpPr>
        <p:spPr>
          <a:xfrm>
            <a:off x="594360" y="1828800"/>
            <a:ext cx="1828800" cy="292608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1. Data Loading</a:t>
            </a:r>
          </a:p>
          <a:p>
            <a:pPr>
              <a:spcBef>
                <a:spcPts val="700"/>
              </a:spcBef>
              <a:defRPr sz="1500">
                <a:solidFill>
                  <a:srgbClr val="232830"/>
                </a:solidFill>
                <a:latin typeface="Aptos"/>
              </a:defRPr>
            </a:pPr>
            <a:r>
              <a:t>Read the CSV dataset</a:t>
            </a:r>
          </a:p>
        </p:txBody>
      </p:sp>
      <p:sp>
        <p:nvSpPr>
          <p:cNvPr id="6" name="TextBox 5"/>
          <p:cNvSpPr txBox="1"/>
          <p:nvPr/>
        </p:nvSpPr>
        <p:spPr>
          <a:xfrm>
            <a:off x="2468879" y="2880360"/>
            <a:ext cx="411480" cy="365760"/>
          </a:xfrm>
          <a:prstGeom prst="rect">
            <a:avLst/>
          </a:prstGeom>
          <a:noFill/>
        </p:spPr>
        <p:txBody>
          <a:bodyPr wrap="square">
            <a:spAutoFit/>
          </a:bodyPr>
          <a:lstStyle/>
          <a:p>
            <a:pPr algn="ctr"/>
            <a:r>
              <a:rPr sz="2200" b="1">
                <a:solidFill>
                  <a:srgbClr val="69707A"/>
                </a:solidFill>
                <a:latin typeface="Aptos"/>
              </a:rPr>
              <a:t>→</a:t>
            </a:r>
          </a:p>
        </p:txBody>
      </p:sp>
      <p:sp>
        <p:nvSpPr>
          <p:cNvPr id="7" name="Rounded Rectangle 6"/>
          <p:cNvSpPr/>
          <p:nvPr/>
        </p:nvSpPr>
        <p:spPr>
          <a:xfrm>
            <a:off x="2880360" y="1828800"/>
            <a:ext cx="1828800" cy="2926080"/>
          </a:xfrm>
          <a:prstGeom prst="roundRect">
            <a:avLst/>
          </a:prstGeom>
          <a:solidFill>
            <a:srgbClr val="E8F6ED"/>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2F7D5A"/>
                </a:solidFill>
                <a:latin typeface="Aptos Display"/>
              </a:rPr>
              <a:t>2. Missing Values</a:t>
            </a:r>
          </a:p>
          <a:p>
            <a:pPr>
              <a:spcBef>
                <a:spcPts val="700"/>
              </a:spcBef>
              <a:defRPr sz="1500">
                <a:solidFill>
                  <a:srgbClr val="232830"/>
                </a:solidFill>
                <a:latin typeface="Aptos"/>
              </a:defRPr>
            </a:pPr>
            <a:r>
              <a:t>Median for numerical data; most-frequent for categorical data</a:t>
            </a:r>
          </a:p>
        </p:txBody>
      </p:sp>
      <p:sp>
        <p:nvSpPr>
          <p:cNvPr id="8" name="TextBox 7"/>
          <p:cNvSpPr txBox="1"/>
          <p:nvPr/>
        </p:nvSpPr>
        <p:spPr>
          <a:xfrm>
            <a:off x="4754879" y="2880360"/>
            <a:ext cx="411480" cy="365760"/>
          </a:xfrm>
          <a:prstGeom prst="rect">
            <a:avLst/>
          </a:prstGeom>
          <a:noFill/>
        </p:spPr>
        <p:txBody>
          <a:bodyPr wrap="square">
            <a:spAutoFit/>
          </a:bodyPr>
          <a:lstStyle/>
          <a:p>
            <a:pPr algn="ctr"/>
            <a:r>
              <a:rPr sz="2200" b="1">
                <a:solidFill>
                  <a:srgbClr val="69707A"/>
                </a:solidFill>
                <a:latin typeface="Aptos"/>
              </a:rPr>
              <a:t>→</a:t>
            </a:r>
          </a:p>
        </p:txBody>
      </p:sp>
      <p:sp>
        <p:nvSpPr>
          <p:cNvPr id="9" name="Rounded Rectangle 8"/>
          <p:cNvSpPr/>
          <p:nvPr/>
        </p:nvSpPr>
        <p:spPr>
          <a:xfrm>
            <a:off x="5166360" y="1828800"/>
            <a:ext cx="1828800" cy="2926080"/>
          </a:xfrm>
          <a:prstGeom prst="roundRect">
            <a:avLst/>
          </a:prstGeom>
          <a:solidFill>
            <a:srgbClr val="F1EEFA"/>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5C4BA0"/>
                </a:solidFill>
                <a:latin typeface="Aptos Display"/>
              </a:rPr>
              <a:t>3. Encoding</a:t>
            </a:r>
          </a:p>
          <a:p>
            <a:pPr>
              <a:spcBef>
                <a:spcPts val="700"/>
              </a:spcBef>
              <a:defRPr sz="1500">
                <a:solidFill>
                  <a:srgbClr val="232830"/>
                </a:solidFill>
                <a:latin typeface="Aptos"/>
              </a:defRPr>
            </a:pPr>
            <a:r>
              <a:t>One-hot encode categorical variables</a:t>
            </a:r>
          </a:p>
        </p:txBody>
      </p:sp>
      <p:sp>
        <p:nvSpPr>
          <p:cNvPr id="10" name="TextBox 9"/>
          <p:cNvSpPr txBox="1"/>
          <p:nvPr/>
        </p:nvSpPr>
        <p:spPr>
          <a:xfrm>
            <a:off x="7040880" y="2880360"/>
            <a:ext cx="411480" cy="365760"/>
          </a:xfrm>
          <a:prstGeom prst="rect">
            <a:avLst/>
          </a:prstGeom>
          <a:noFill/>
        </p:spPr>
        <p:txBody>
          <a:bodyPr wrap="square">
            <a:spAutoFit/>
          </a:bodyPr>
          <a:lstStyle/>
          <a:p>
            <a:pPr algn="ctr"/>
            <a:r>
              <a:rPr sz="2200" b="1">
                <a:solidFill>
                  <a:srgbClr val="69707A"/>
                </a:solidFill>
                <a:latin typeface="Aptos"/>
              </a:rPr>
              <a:t>→</a:t>
            </a:r>
          </a:p>
        </p:txBody>
      </p:sp>
      <p:sp>
        <p:nvSpPr>
          <p:cNvPr id="11" name="Rounded Rectangle 10"/>
          <p:cNvSpPr/>
          <p:nvPr/>
        </p:nvSpPr>
        <p:spPr>
          <a:xfrm>
            <a:off x="7452360" y="1828800"/>
            <a:ext cx="1828800" cy="2926080"/>
          </a:xfrm>
          <a:prstGeom prst="roundRect">
            <a:avLst/>
          </a:prstGeom>
          <a:solidFill>
            <a:srgbClr val="FCF1E4"/>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CD782D"/>
                </a:solidFill>
                <a:latin typeface="Aptos Display"/>
              </a:rPr>
              <a:t>4. Scaling</a:t>
            </a:r>
          </a:p>
          <a:p>
            <a:pPr>
              <a:spcBef>
                <a:spcPts val="700"/>
              </a:spcBef>
              <a:defRPr sz="1500">
                <a:solidFill>
                  <a:srgbClr val="232830"/>
                </a:solidFill>
                <a:latin typeface="Aptos"/>
              </a:defRPr>
            </a:pPr>
            <a:r>
              <a:t>Standardize numerical features</a:t>
            </a:r>
          </a:p>
        </p:txBody>
      </p:sp>
      <p:sp>
        <p:nvSpPr>
          <p:cNvPr id="12" name="TextBox 11"/>
          <p:cNvSpPr txBox="1"/>
          <p:nvPr/>
        </p:nvSpPr>
        <p:spPr>
          <a:xfrm>
            <a:off x="9326880" y="2880360"/>
            <a:ext cx="411480" cy="365760"/>
          </a:xfrm>
          <a:prstGeom prst="rect">
            <a:avLst/>
          </a:prstGeom>
          <a:noFill/>
        </p:spPr>
        <p:txBody>
          <a:bodyPr wrap="square">
            <a:spAutoFit/>
          </a:bodyPr>
          <a:lstStyle/>
          <a:p>
            <a:pPr algn="ctr"/>
            <a:r>
              <a:rPr sz="2200" b="1">
                <a:solidFill>
                  <a:srgbClr val="69707A"/>
                </a:solidFill>
                <a:latin typeface="Aptos"/>
              </a:rPr>
              <a:t>→</a:t>
            </a:r>
          </a:p>
        </p:txBody>
      </p:sp>
      <p:sp>
        <p:nvSpPr>
          <p:cNvPr id="13" name="Rounded Rectangle 12"/>
          <p:cNvSpPr/>
          <p:nvPr/>
        </p:nvSpPr>
        <p:spPr>
          <a:xfrm>
            <a:off x="9738360" y="1828800"/>
            <a:ext cx="1828800" cy="292608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5. Model Input</a:t>
            </a:r>
          </a:p>
          <a:p>
            <a:pPr>
              <a:spcBef>
                <a:spcPts val="700"/>
              </a:spcBef>
              <a:defRPr sz="1500">
                <a:solidFill>
                  <a:srgbClr val="232830"/>
                </a:solidFill>
                <a:latin typeface="Aptos"/>
              </a:defRPr>
            </a:pPr>
            <a:r>
              <a:t>Create the final feature matrix for clustering</a:t>
            </a:r>
          </a:p>
        </p:txBody>
      </p:sp>
      <p:sp>
        <p:nvSpPr>
          <p:cNvPr id="14" name="TextBox 13"/>
          <p:cNvSpPr txBox="1"/>
          <p:nvPr/>
        </p:nvSpPr>
        <p:spPr>
          <a:xfrm>
            <a:off x="914400" y="5257800"/>
            <a:ext cx="10332720" cy="640080"/>
          </a:xfrm>
          <a:prstGeom prst="rect">
            <a:avLst/>
          </a:prstGeom>
          <a:noFill/>
        </p:spPr>
        <p:txBody>
          <a:bodyPr wrap="square">
            <a:spAutoFit/>
          </a:bodyPr>
          <a:lstStyle/>
          <a:p>
            <a:pPr algn="ctr"/>
            <a:r>
              <a:rPr sz="1800" b="1">
                <a:solidFill>
                  <a:srgbClr val="232830"/>
                </a:solidFill>
                <a:latin typeface="Aptos"/>
              </a:rPr>
              <a:t>Why preprocessing matters: clustering is distance-based, so inconsistent scales or raw categories can distort similarity.</a:t>
            </a:r>
          </a:p>
        </p:txBody>
      </p:sp>
      <p:sp>
        <p:nvSpPr>
          <p:cNvPr id="15" name="Rectangle 14"/>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824"/>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5. Exploratory Data Analysis</a:t>
            </a:r>
          </a:p>
        </p:txBody>
      </p:sp>
      <p:sp>
        <p:nvSpPr>
          <p:cNvPr id="5" name="Rounded Rectangle 4"/>
          <p:cNvSpPr/>
          <p:nvPr/>
        </p:nvSpPr>
        <p:spPr>
          <a:xfrm>
            <a:off x="594360" y="1097280"/>
            <a:ext cx="3429000" cy="448056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dirty="0">
                <a:solidFill>
                  <a:srgbClr val="14375F"/>
                </a:solidFill>
                <a:latin typeface="Aptos Display"/>
              </a:rPr>
              <a:t>Age Distribution</a:t>
            </a:r>
          </a:p>
          <a:p>
            <a:pPr>
              <a:spcBef>
                <a:spcPts val="700"/>
              </a:spcBef>
              <a:defRPr sz="1700">
                <a:solidFill>
                  <a:srgbClr val="232830"/>
                </a:solidFill>
                <a:latin typeface="Aptos"/>
              </a:defRPr>
            </a:pPr>
            <a:r>
              <a:rPr dirty="0"/>
              <a:t>The dataset contains patients across a broad adult age range.</a:t>
            </a:r>
          </a:p>
        </p:txBody>
      </p:sp>
      <p:sp>
        <p:nvSpPr>
          <p:cNvPr id="6" name="Rounded Rectangle 5"/>
          <p:cNvSpPr/>
          <p:nvPr/>
        </p:nvSpPr>
        <p:spPr>
          <a:xfrm>
            <a:off x="4389120" y="1097280"/>
            <a:ext cx="3429000" cy="4480560"/>
          </a:xfrm>
          <a:prstGeom prst="roundRect">
            <a:avLst/>
          </a:prstGeom>
          <a:solidFill>
            <a:srgbClr val="E8F6ED"/>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2F7D5A"/>
                </a:solidFill>
                <a:latin typeface="Aptos Display"/>
              </a:rPr>
              <a:t>BMI Distribution</a:t>
            </a:r>
          </a:p>
          <a:p>
            <a:pPr>
              <a:spcBef>
                <a:spcPts val="700"/>
              </a:spcBef>
              <a:defRPr sz="1700">
                <a:solidFill>
                  <a:srgbClr val="232830"/>
                </a:solidFill>
                <a:latin typeface="Aptos"/>
              </a:defRPr>
            </a:pPr>
            <a:r>
              <a:t>BMI provides a physical-health feature that contributes to patient similarity.</a:t>
            </a:r>
          </a:p>
        </p:txBody>
      </p:sp>
      <p:sp>
        <p:nvSpPr>
          <p:cNvPr id="7" name="Rounded Rectangle 6"/>
          <p:cNvSpPr/>
          <p:nvPr/>
        </p:nvSpPr>
        <p:spPr>
          <a:xfrm>
            <a:off x="8183879" y="1097280"/>
            <a:ext cx="3429000" cy="4480560"/>
          </a:xfrm>
          <a:prstGeom prst="roundRect">
            <a:avLst/>
          </a:prstGeom>
          <a:solidFill>
            <a:srgbClr val="F1EEFA"/>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5C4BA0"/>
                </a:solidFill>
                <a:latin typeface="Aptos Display"/>
              </a:rPr>
              <a:t>Healthcare Utilization</a:t>
            </a:r>
          </a:p>
          <a:p>
            <a:pPr>
              <a:spcBef>
                <a:spcPts val="700"/>
              </a:spcBef>
              <a:defRPr sz="1700">
                <a:solidFill>
                  <a:srgbClr val="232830"/>
                </a:solidFill>
                <a:latin typeface="Aptos"/>
              </a:defRPr>
            </a:pPr>
            <a:r>
              <a:t>Annual visits, billing, and days since last visit capture healthcare-use patterns.</a:t>
            </a:r>
          </a:p>
        </p:txBody>
      </p:sp>
      <p:sp>
        <p:nvSpPr>
          <p:cNvPr id="8" name="Rectangle 7"/>
          <p:cNvSpPr/>
          <p:nvPr/>
        </p:nvSpPr>
        <p:spPr>
          <a:xfrm>
            <a:off x="1011090" y="5215970"/>
            <a:ext cx="228600" cy="228600"/>
          </a:xfrm>
          <a:prstGeom prst="rect">
            <a:avLst/>
          </a:prstGeom>
          <a:solidFill>
            <a:srgbClr val="28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326218" y="4812815"/>
            <a:ext cx="228600" cy="685800"/>
          </a:xfrm>
          <a:prstGeom prst="rect">
            <a:avLst/>
          </a:prstGeom>
          <a:solidFill>
            <a:srgbClr val="28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641346" y="4375404"/>
            <a:ext cx="228600" cy="1143000"/>
          </a:xfrm>
          <a:prstGeom prst="rect">
            <a:avLst/>
          </a:prstGeom>
          <a:solidFill>
            <a:srgbClr val="28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975103" y="3925028"/>
            <a:ext cx="228600" cy="1600200"/>
          </a:xfrm>
          <a:prstGeom prst="rect">
            <a:avLst/>
          </a:prstGeom>
          <a:solidFill>
            <a:srgbClr val="28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a:xfrm>
            <a:off x="2308860" y="4154925"/>
            <a:ext cx="228600" cy="1371600"/>
          </a:xfrm>
          <a:prstGeom prst="rect">
            <a:avLst/>
          </a:prstGeom>
          <a:solidFill>
            <a:srgbClr val="28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642617" y="4610828"/>
            <a:ext cx="228600" cy="914400"/>
          </a:xfrm>
          <a:prstGeom prst="rect">
            <a:avLst/>
          </a:prstGeom>
          <a:solidFill>
            <a:srgbClr val="28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957745" y="5069325"/>
            <a:ext cx="228600" cy="457200"/>
          </a:xfrm>
          <a:prstGeom prst="rect">
            <a:avLst/>
          </a:prstGeom>
          <a:solidFill>
            <a:srgbClr val="28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860036" y="5104672"/>
            <a:ext cx="228600" cy="457200"/>
          </a:xfrm>
          <a:prstGeom prst="rect">
            <a:avLst/>
          </a:prstGeom>
          <a:solidFill>
            <a:srgbClr val="2F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157216" y="4654296"/>
            <a:ext cx="228600" cy="914400"/>
          </a:xfrm>
          <a:prstGeom prst="rect">
            <a:avLst/>
          </a:prstGeom>
          <a:solidFill>
            <a:srgbClr val="2F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54396" y="4206240"/>
            <a:ext cx="228600" cy="1371600"/>
          </a:xfrm>
          <a:prstGeom prst="rect">
            <a:avLst/>
          </a:prstGeom>
          <a:solidFill>
            <a:srgbClr val="2F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751576" y="3869140"/>
            <a:ext cx="228600" cy="1717844"/>
          </a:xfrm>
          <a:prstGeom prst="rect">
            <a:avLst/>
          </a:prstGeom>
          <a:solidFill>
            <a:srgbClr val="2F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48755" y="3986784"/>
            <a:ext cx="228600" cy="1600200"/>
          </a:xfrm>
          <a:prstGeom prst="rect">
            <a:avLst/>
          </a:prstGeom>
          <a:solidFill>
            <a:srgbClr val="2F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45934" y="4647472"/>
            <a:ext cx="228600" cy="914400"/>
          </a:xfrm>
          <a:prstGeom prst="rect">
            <a:avLst/>
          </a:prstGeom>
          <a:solidFill>
            <a:srgbClr val="2F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643113" y="5104672"/>
            <a:ext cx="228600" cy="457200"/>
          </a:xfrm>
          <a:prstGeom prst="rect">
            <a:avLst/>
          </a:prstGeom>
          <a:solidFill>
            <a:srgbClr val="2F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6664" y="5056359"/>
            <a:ext cx="228600" cy="457200"/>
          </a:xfrm>
          <a:prstGeom prst="rect">
            <a:avLst/>
          </a:prstGeom>
          <a:solidFill>
            <a:srgbClr val="5C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950908" y="4402973"/>
            <a:ext cx="228600" cy="1143000"/>
          </a:xfrm>
          <a:prstGeom prst="rect">
            <a:avLst/>
          </a:prstGeom>
          <a:solidFill>
            <a:srgbClr val="5C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239866" y="4610828"/>
            <a:ext cx="228600" cy="914400"/>
          </a:xfrm>
          <a:prstGeom prst="rect">
            <a:avLst/>
          </a:prstGeom>
          <a:solidFill>
            <a:srgbClr val="5C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546336" y="3934582"/>
            <a:ext cx="228600" cy="1600200"/>
          </a:xfrm>
          <a:prstGeom prst="rect">
            <a:avLst/>
          </a:prstGeom>
          <a:solidFill>
            <a:srgbClr val="5C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893808" y="4858535"/>
            <a:ext cx="228600" cy="685800"/>
          </a:xfrm>
          <a:prstGeom prst="rect">
            <a:avLst/>
          </a:prstGeom>
          <a:solidFill>
            <a:srgbClr val="5C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0216897" y="4172735"/>
            <a:ext cx="228600" cy="1371600"/>
          </a:xfrm>
          <a:prstGeom prst="rect">
            <a:avLst/>
          </a:prstGeom>
          <a:solidFill>
            <a:srgbClr val="5C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555519" y="4647472"/>
            <a:ext cx="228600" cy="914400"/>
          </a:xfrm>
          <a:prstGeom prst="rect">
            <a:avLst/>
          </a:prstGeom>
          <a:solidFill>
            <a:srgbClr val="5C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97280" y="5715000"/>
            <a:ext cx="10058400" cy="411480"/>
          </a:xfrm>
          <a:prstGeom prst="rect">
            <a:avLst/>
          </a:prstGeom>
          <a:noFill/>
        </p:spPr>
        <p:txBody>
          <a:bodyPr wrap="square">
            <a:spAutoFit/>
          </a:bodyPr>
          <a:lstStyle/>
          <a:p>
            <a:pPr algn="ctr"/>
            <a:r>
              <a:rPr sz="1700" b="1">
                <a:solidFill>
                  <a:srgbClr val="14375F"/>
                </a:solidFill>
                <a:latin typeface="Aptos"/>
              </a:rPr>
              <a:t>EDA helps identify distributions and possible patterns before clustering.</a:t>
            </a:r>
          </a:p>
        </p:txBody>
      </p:sp>
      <p:sp>
        <p:nvSpPr>
          <p:cNvPr id="30" name="Rectangle 29"/>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6. Clustering Algorithms</a:t>
            </a:r>
          </a:p>
        </p:txBody>
      </p:sp>
      <p:sp>
        <p:nvSpPr>
          <p:cNvPr id="5" name="Rounded Rectangle 4"/>
          <p:cNvSpPr/>
          <p:nvPr/>
        </p:nvSpPr>
        <p:spPr>
          <a:xfrm>
            <a:off x="640080" y="1188720"/>
            <a:ext cx="5349240" cy="443484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K-Means Clustering</a:t>
            </a:r>
          </a:p>
          <a:p>
            <a:pPr>
              <a:spcBef>
                <a:spcPts val="700"/>
              </a:spcBef>
              <a:defRPr sz="1900">
                <a:solidFill>
                  <a:srgbClr val="232830"/>
                </a:solidFill>
                <a:latin typeface="Aptos"/>
              </a:defRPr>
            </a:pPr>
            <a:r>
              <a:t>• Chooses K cluster centers</a:t>
            </a:r>
            <a:br/>
            <a:r>
              <a:t>• Assigns each patient to the nearest center</a:t>
            </a:r>
            <a:br/>
            <a:r>
              <a:t>• Recalculates centers iteratively</a:t>
            </a:r>
            <a:br/>
            <a:r>
              <a:t>• Efficient for large datasets</a:t>
            </a:r>
            <a:br/>
            <a:r>
              <a:t>• In this project, the tested scores selected K = 2</a:t>
            </a:r>
          </a:p>
        </p:txBody>
      </p:sp>
      <p:sp>
        <p:nvSpPr>
          <p:cNvPr id="6" name="Rounded Rectangle 5"/>
          <p:cNvSpPr/>
          <p:nvPr/>
        </p:nvSpPr>
        <p:spPr>
          <a:xfrm>
            <a:off x="6217920" y="1188720"/>
            <a:ext cx="5349240" cy="4434840"/>
          </a:xfrm>
          <a:prstGeom prst="roundRect">
            <a:avLst/>
          </a:prstGeom>
          <a:solidFill>
            <a:srgbClr val="F1EEFA"/>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5C4BA0"/>
                </a:solidFill>
                <a:latin typeface="Aptos Display"/>
              </a:rPr>
              <a:t>Hierarchical Clustering</a:t>
            </a:r>
          </a:p>
          <a:p>
            <a:pPr>
              <a:spcBef>
                <a:spcPts val="700"/>
              </a:spcBef>
              <a:defRPr sz="1900">
                <a:solidFill>
                  <a:srgbClr val="232830"/>
                </a:solidFill>
                <a:latin typeface="Aptos"/>
              </a:defRPr>
            </a:pPr>
            <a:r>
              <a:t>• Builds a hierarchy of groups</a:t>
            </a:r>
            <a:br/>
            <a:r>
              <a:t>• Starts from individual observations and merges similar groups</a:t>
            </a:r>
            <a:br/>
            <a:r>
              <a:t>• Ward linkage is used</a:t>
            </a:r>
            <a:br/>
            <a:r>
              <a:t>• Dendrogram visualizes the hierarchy</a:t>
            </a:r>
            <a:br/>
            <a:r>
              <a:t>• K = 2 is used for direct comparison</a:t>
            </a:r>
          </a:p>
        </p:txBody>
      </p:sp>
      <p:sp>
        <p:nvSpPr>
          <p:cNvPr id="7" name="Rectangle 6"/>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7. Silhouette Score</a:t>
            </a:r>
          </a:p>
        </p:txBody>
      </p:sp>
      <p:sp>
        <p:nvSpPr>
          <p:cNvPr id="5" name="TextBox 4"/>
          <p:cNvSpPr txBox="1"/>
          <p:nvPr/>
        </p:nvSpPr>
        <p:spPr>
          <a:xfrm>
            <a:off x="9144000" y="182880"/>
            <a:ext cx="2514600" cy="365760"/>
          </a:xfrm>
          <a:prstGeom prst="rect">
            <a:avLst/>
          </a:prstGeom>
          <a:noFill/>
        </p:spPr>
        <p:txBody>
          <a:bodyPr wrap="none">
            <a:spAutoFit/>
          </a:bodyPr>
          <a:lstStyle/>
          <a:p>
            <a:pPr algn="r"/>
            <a:r>
              <a:rPr sz="1000">
                <a:solidFill>
                  <a:srgbClr val="FFFFFF"/>
                </a:solidFill>
                <a:latin typeface="Aptos"/>
              </a:rPr>
              <a:t>Cluster Evaluation</a:t>
            </a:r>
          </a:p>
        </p:txBody>
      </p:sp>
      <p:pic>
        <p:nvPicPr>
          <p:cNvPr id="6" name="Picture 5" descr="a_clean_infographic_poster_on_a_white_background_w.png"/>
          <p:cNvPicPr>
            <a:picLocks noChangeAspect="1"/>
          </p:cNvPicPr>
          <p:nvPr/>
        </p:nvPicPr>
        <p:blipFill>
          <a:blip r:embed="rId2"/>
          <a:stretch>
            <a:fillRect/>
          </a:stretch>
        </p:blipFill>
        <p:spPr>
          <a:xfrm>
            <a:off x="502920" y="914400"/>
            <a:ext cx="11155680" cy="5532120"/>
          </a:xfrm>
          <a:prstGeom prst="rect">
            <a:avLst/>
          </a:prstGeom>
        </p:spPr>
      </p:pic>
      <p:sp>
        <p:nvSpPr>
          <p:cNvPr id="7" name="Rectangle 6"/>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8. Results &amp; Algorithm Comparison</a:t>
            </a:r>
          </a:p>
        </p:txBody>
      </p:sp>
      <p:graphicFrame>
        <p:nvGraphicFramePr>
          <p:cNvPr id="5" name="Chart 4"/>
          <p:cNvGraphicFramePr>
            <a:graphicFrameLocks noGrp="1"/>
          </p:cNvGraphicFramePr>
          <p:nvPr/>
        </p:nvGraphicFramePr>
        <p:xfrm>
          <a:off x="640080" y="1234440"/>
          <a:ext cx="5212080" cy="4480560"/>
        </p:xfrm>
        <a:graphic>
          <a:graphicData uri="http://schemas.openxmlformats.org/drawingml/2006/chart">
            <c:chart xmlns:c="http://schemas.openxmlformats.org/drawingml/2006/chart" xmlns:r="http://schemas.openxmlformats.org/officeDocument/2006/relationships" r:id="rId2"/>
          </a:graphicData>
        </a:graphic>
      </p:graphicFrame>
      <p:sp>
        <p:nvSpPr>
          <p:cNvPr id="6" name="Rounded Rectangle 5"/>
          <p:cNvSpPr/>
          <p:nvPr/>
        </p:nvSpPr>
        <p:spPr>
          <a:xfrm>
            <a:off x="6172200" y="1234440"/>
            <a:ext cx="5303520" cy="1874519"/>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Observed Result</a:t>
            </a:r>
          </a:p>
          <a:p>
            <a:pPr>
              <a:spcBef>
                <a:spcPts val="700"/>
              </a:spcBef>
              <a:defRPr sz="1800">
                <a:solidFill>
                  <a:srgbClr val="232830"/>
                </a:solidFill>
                <a:latin typeface="Aptos"/>
              </a:defRPr>
            </a:pPr>
            <a:r>
              <a:t>Both methods produced 2 clusters in the final configuration. The K-Means score was 0.1270 and the Hierarchical score was 0.0996.</a:t>
            </a:r>
          </a:p>
        </p:txBody>
      </p:sp>
      <p:sp>
        <p:nvSpPr>
          <p:cNvPr id="7" name="Rounded Rectangle 6"/>
          <p:cNvSpPr/>
          <p:nvPr/>
        </p:nvSpPr>
        <p:spPr>
          <a:xfrm>
            <a:off x="6172200" y="3337560"/>
            <a:ext cx="5303520" cy="2331720"/>
          </a:xfrm>
          <a:prstGeom prst="roundRect">
            <a:avLst/>
          </a:prstGeom>
          <a:solidFill>
            <a:srgbClr val="FCF1E4"/>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CD782D"/>
                </a:solidFill>
                <a:latin typeface="Aptos Display"/>
              </a:rPr>
              <a:t>Interpretation</a:t>
            </a:r>
          </a:p>
          <a:p>
            <a:pPr>
              <a:spcBef>
                <a:spcPts val="700"/>
              </a:spcBef>
              <a:defRPr sz="1700">
                <a:solidFill>
                  <a:srgbClr val="232830"/>
                </a:solidFill>
                <a:latin typeface="Aptos"/>
              </a:defRPr>
            </a:pPr>
            <a:r>
              <a:t>The scores indicate that the patient groups have some structure but also considerable overlap. Therefore, the clusters should be interpreted as broad data-driven segments rather than sharply separated clinical categories.</a:t>
            </a:r>
          </a:p>
        </p:txBody>
      </p:sp>
      <p:sp>
        <p:nvSpPr>
          <p:cNvPr id="8" name="Rectangle 7"/>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9. K-Means Cluster Profiles</a:t>
            </a:r>
          </a:p>
        </p:txBody>
      </p:sp>
      <p:graphicFrame>
        <p:nvGraphicFramePr>
          <p:cNvPr id="5" name="Table 4"/>
          <p:cNvGraphicFramePr>
            <a:graphicFrameLocks noGrp="1"/>
          </p:cNvGraphicFramePr>
          <p:nvPr/>
        </p:nvGraphicFramePr>
        <p:xfrm>
          <a:off x="822960" y="1143000"/>
          <a:ext cx="10424160" cy="507492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507492">
                <a:tc>
                  <a:txBody>
                    <a:bodyPr/>
                    <a:lstStyle/>
                    <a:p>
                      <a:pPr algn="ctr"/>
                      <a:r>
                        <a:rPr sz="1400" b="1">
                          <a:solidFill>
                            <a:srgbClr val="FFFFFF"/>
                          </a:solidFill>
                        </a:rPr>
                        <a:t>Feature</a:t>
                      </a:r>
                    </a:p>
                  </a:txBody>
                  <a:tcPr>
                    <a:solidFill>
                      <a:srgbClr val="14375F"/>
                    </a:solidFill>
                  </a:tcPr>
                </a:tc>
                <a:tc>
                  <a:txBody>
                    <a:bodyPr/>
                    <a:lstStyle/>
                    <a:p>
                      <a:pPr algn="ctr"/>
                      <a:r>
                        <a:rPr sz="1400" b="1">
                          <a:solidFill>
                            <a:srgbClr val="FFFFFF"/>
                          </a:solidFill>
                        </a:rPr>
                        <a:t>Cluster 0 (Avg.)</a:t>
                      </a:r>
                    </a:p>
                  </a:txBody>
                  <a:tcPr>
                    <a:solidFill>
                      <a:srgbClr val="14375F"/>
                    </a:solidFill>
                  </a:tcPr>
                </a:tc>
                <a:tc>
                  <a:txBody>
                    <a:bodyPr/>
                    <a:lstStyle/>
                    <a:p>
                      <a:pPr algn="ctr"/>
                      <a:r>
                        <a:rPr sz="1400" b="1">
                          <a:solidFill>
                            <a:srgbClr val="FFFFFF"/>
                          </a:solidFill>
                        </a:rPr>
                        <a:t>Cluster 1 (Avg.)</a:t>
                      </a:r>
                    </a:p>
                  </a:txBody>
                  <a:tcPr>
                    <a:solidFill>
                      <a:srgbClr val="14375F"/>
                    </a:solidFill>
                  </a:tcPr>
                </a:tc>
                <a:extLst>
                  <a:ext uri="{0D108BD9-81ED-4DB2-BD59-A6C34878D82A}">
                    <a16:rowId xmlns:a16="http://schemas.microsoft.com/office/drawing/2014/main" val="10000"/>
                  </a:ext>
                </a:extLst>
              </a:tr>
              <a:tr h="507492">
                <a:tc>
                  <a:txBody>
                    <a:bodyPr/>
                    <a:lstStyle/>
                    <a:p>
                      <a:pPr algn="l"/>
                      <a:r>
                        <a:rPr sz="1300">
                          <a:solidFill>
                            <a:srgbClr val="232830"/>
                          </a:solidFill>
                        </a:rPr>
                        <a:t>Average Age</a:t>
                      </a:r>
                    </a:p>
                  </a:txBody>
                  <a:tcPr>
                    <a:solidFill>
                      <a:srgbClr val="FFFFFF"/>
                    </a:solidFill>
                  </a:tcPr>
                </a:tc>
                <a:tc>
                  <a:txBody>
                    <a:bodyPr/>
                    <a:lstStyle/>
                    <a:p>
                      <a:pPr algn="ctr"/>
                      <a:r>
                        <a:rPr sz="1300">
                          <a:solidFill>
                            <a:srgbClr val="232830"/>
                          </a:solidFill>
                        </a:rPr>
                        <a:t>35.90</a:t>
                      </a:r>
                    </a:p>
                  </a:txBody>
                  <a:tcPr>
                    <a:solidFill>
                      <a:srgbClr val="FFFFFF"/>
                    </a:solidFill>
                  </a:tcPr>
                </a:tc>
                <a:tc>
                  <a:txBody>
                    <a:bodyPr/>
                    <a:lstStyle/>
                    <a:p>
                      <a:pPr algn="ctr"/>
                      <a:r>
                        <a:rPr sz="1300">
                          <a:solidFill>
                            <a:srgbClr val="232830"/>
                          </a:solidFill>
                        </a:rPr>
                        <a:t>59.35</a:t>
                      </a:r>
                    </a:p>
                  </a:txBody>
                  <a:tcPr>
                    <a:solidFill>
                      <a:srgbClr val="FFFFFF"/>
                    </a:solidFill>
                  </a:tcPr>
                </a:tc>
                <a:extLst>
                  <a:ext uri="{0D108BD9-81ED-4DB2-BD59-A6C34878D82A}">
                    <a16:rowId xmlns:a16="http://schemas.microsoft.com/office/drawing/2014/main" val="10001"/>
                  </a:ext>
                </a:extLst>
              </a:tr>
              <a:tr h="507492">
                <a:tc>
                  <a:txBody>
                    <a:bodyPr/>
                    <a:lstStyle/>
                    <a:p>
                      <a:pPr algn="l"/>
                      <a:r>
                        <a:rPr sz="1300">
                          <a:solidFill>
                            <a:srgbClr val="232830"/>
                          </a:solidFill>
                        </a:rPr>
                        <a:t>Height (cm)</a:t>
                      </a:r>
                    </a:p>
                  </a:txBody>
                  <a:tcPr>
                    <a:solidFill>
                      <a:srgbClr val="F5F7F9"/>
                    </a:solidFill>
                  </a:tcPr>
                </a:tc>
                <a:tc>
                  <a:txBody>
                    <a:bodyPr/>
                    <a:lstStyle/>
                    <a:p>
                      <a:pPr algn="ctr"/>
                      <a:r>
                        <a:rPr sz="1300">
                          <a:solidFill>
                            <a:srgbClr val="232830"/>
                          </a:solidFill>
                        </a:rPr>
                        <a:t>169.90</a:t>
                      </a:r>
                    </a:p>
                  </a:txBody>
                  <a:tcPr>
                    <a:solidFill>
                      <a:srgbClr val="F5F7F9"/>
                    </a:solidFill>
                  </a:tcPr>
                </a:tc>
                <a:tc>
                  <a:txBody>
                    <a:bodyPr/>
                    <a:lstStyle/>
                    <a:p>
                      <a:pPr algn="ctr"/>
                      <a:r>
                        <a:rPr sz="1300">
                          <a:solidFill>
                            <a:srgbClr val="232830"/>
                          </a:solidFill>
                        </a:rPr>
                        <a:t>166.74</a:t>
                      </a:r>
                    </a:p>
                  </a:txBody>
                  <a:tcPr>
                    <a:solidFill>
                      <a:srgbClr val="F5F7F9"/>
                    </a:solidFill>
                  </a:tcPr>
                </a:tc>
                <a:extLst>
                  <a:ext uri="{0D108BD9-81ED-4DB2-BD59-A6C34878D82A}">
                    <a16:rowId xmlns:a16="http://schemas.microsoft.com/office/drawing/2014/main" val="10002"/>
                  </a:ext>
                </a:extLst>
              </a:tr>
              <a:tr h="507492">
                <a:tc>
                  <a:txBody>
                    <a:bodyPr/>
                    <a:lstStyle/>
                    <a:p>
                      <a:pPr algn="l"/>
                      <a:r>
                        <a:rPr sz="1300">
                          <a:solidFill>
                            <a:srgbClr val="232830"/>
                          </a:solidFill>
                        </a:rPr>
                        <a:t>Weight (kg)</a:t>
                      </a:r>
                    </a:p>
                  </a:txBody>
                  <a:tcPr>
                    <a:solidFill>
                      <a:srgbClr val="FFFFFF"/>
                    </a:solidFill>
                  </a:tcPr>
                </a:tc>
                <a:tc>
                  <a:txBody>
                    <a:bodyPr/>
                    <a:lstStyle/>
                    <a:p>
                      <a:pPr algn="ctr"/>
                      <a:r>
                        <a:rPr sz="1300">
                          <a:solidFill>
                            <a:srgbClr val="232830"/>
                          </a:solidFill>
                        </a:rPr>
                        <a:t>81.86</a:t>
                      </a:r>
                    </a:p>
                  </a:txBody>
                  <a:tcPr>
                    <a:solidFill>
                      <a:srgbClr val="FFFFFF"/>
                    </a:solidFill>
                  </a:tcPr>
                </a:tc>
                <a:tc>
                  <a:txBody>
                    <a:bodyPr/>
                    <a:lstStyle/>
                    <a:p>
                      <a:pPr algn="ctr"/>
                      <a:r>
                        <a:rPr sz="1300">
                          <a:solidFill>
                            <a:srgbClr val="232830"/>
                          </a:solidFill>
                        </a:rPr>
                        <a:t>87.06</a:t>
                      </a:r>
                    </a:p>
                  </a:txBody>
                  <a:tcPr>
                    <a:solidFill>
                      <a:srgbClr val="FFFFFF"/>
                    </a:solidFill>
                  </a:tcPr>
                </a:tc>
                <a:extLst>
                  <a:ext uri="{0D108BD9-81ED-4DB2-BD59-A6C34878D82A}">
                    <a16:rowId xmlns:a16="http://schemas.microsoft.com/office/drawing/2014/main" val="10003"/>
                  </a:ext>
                </a:extLst>
              </a:tr>
              <a:tr h="507492">
                <a:tc>
                  <a:txBody>
                    <a:bodyPr/>
                    <a:lstStyle/>
                    <a:p>
                      <a:pPr algn="l"/>
                      <a:r>
                        <a:rPr sz="1300">
                          <a:solidFill>
                            <a:srgbClr val="232830"/>
                          </a:solidFill>
                        </a:rPr>
                        <a:t>BMI</a:t>
                      </a:r>
                    </a:p>
                  </a:txBody>
                  <a:tcPr>
                    <a:solidFill>
                      <a:srgbClr val="F5F7F9"/>
                    </a:solidFill>
                  </a:tcPr>
                </a:tc>
                <a:tc>
                  <a:txBody>
                    <a:bodyPr/>
                    <a:lstStyle/>
                    <a:p>
                      <a:pPr algn="ctr"/>
                      <a:r>
                        <a:rPr sz="1300">
                          <a:solidFill>
                            <a:srgbClr val="232830"/>
                          </a:solidFill>
                        </a:rPr>
                        <a:t>28.88</a:t>
                      </a:r>
                    </a:p>
                  </a:txBody>
                  <a:tcPr>
                    <a:solidFill>
                      <a:srgbClr val="F5F7F9"/>
                    </a:solidFill>
                  </a:tcPr>
                </a:tc>
                <a:tc>
                  <a:txBody>
                    <a:bodyPr/>
                    <a:lstStyle/>
                    <a:p>
                      <a:pPr algn="ctr"/>
                      <a:r>
                        <a:rPr sz="1300">
                          <a:solidFill>
                            <a:srgbClr val="232830"/>
                          </a:solidFill>
                        </a:rPr>
                        <a:t>31.82</a:t>
                      </a:r>
                    </a:p>
                  </a:txBody>
                  <a:tcPr>
                    <a:solidFill>
                      <a:srgbClr val="F5F7F9"/>
                    </a:solidFill>
                  </a:tcPr>
                </a:tc>
                <a:extLst>
                  <a:ext uri="{0D108BD9-81ED-4DB2-BD59-A6C34878D82A}">
                    <a16:rowId xmlns:a16="http://schemas.microsoft.com/office/drawing/2014/main" val="10004"/>
                  </a:ext>
                </a:extLst>
              </a:tr>
              <a:tr h="507492">
                <a:tc>
                  <a:txBody>
                    <a:bodyPr/>
                    <a:lstStyle/>
                    <a:p>
                      <a:pPr algn="l"/>
                      <a:r>
                        <a:rPr sz="1300">
                          <a:solidFill>
                            <a:srgbClr val="232830"/>
                          </a:solidFill>
                        </a:rPr>
                        <a:t>Chronic Conditions</a:t>
                      </a:r>
                    </a:p>
                  </a:txBody>
                  <a:tcPr>
                    <a:solidFill>
                      <a:srgbClr val="FFFFFF"/>
                    </a:solidFill>
                  </a:tcPr>
                </a:tc>
                <a:tc>
                  <a:txBody>
                    <a:bodyPr/>
                    <a:lstStyle/>
                    <a:p>
                      <a:pPr algn="ctr"/>
                      <a:r>
                        <a:rPr sz="1300">
                          <a:solidFill>
                            <a:srgbClr val="232830"/>
                          </a:solidFill>
                        </a:rPr>
                        <a:t>1.42</a:t>
                      </a:r>
                    </a:p>
                  </a:txBody>
                  <a:tcPr>
                    <a:solidFill>
                      <a:srgbClr val="FFFFFF"/>
                    </a:solidFill>
                  </a:tcPr>
                </a:tc>
                <a:tc>
                  <a:txBody>
                    <a:bodyPr/>
                    <a:lstStyle/>
                    <a:p>
                      <a:pPr algn="ctr"/>
                      <a:r>
                        <a:rPr sz="1300">
                          <a:solidFill>
                            <a:srgbClr val="232830"/>
                          </a:solidFill>
                        </a:rPr>
                        <a:t>2.31</a:t>
                      </a:r>
                    </a:p>
                  </a:txBody>
                  <a:tcPr>
                    <a:solidFill>
                      <a:srgbClr val="FFFFFF"/>
                    </a:solidFill>
                  </a:tcPr>
                </a:tc>
                <a:extLst>
                  <a:ext uri="{0D108BD9-81ED-4DB2-BD59-A6C34878D82A}">
                    <a16:rowId xmlns:a16="http://schemas.microsoft.com/office/drawing/2014/main" val="10005"/>
                  </a:ext>
                </a:extLst>
              </a:tr>
              <a:tr h="507492">
                <a:tc>
                  <a:txBody>
                    <a:bodyPr/>
                    <a:lstStyle/>
                    <a:p>
                      <a:pPr algn="l"/>
                      <a:r>
                        <a:rPr sz="1300">
                          <a:solidFill>
                            <a:srgbClr val="232830"/>
                          </a:solidFill>
                        </a:rPr>
                        <a:t>Annual Visits</a:t>
                      </a:r>
                    </a:p>
                  </a:txBody>
                  <a:tcPr>
                    <a:solidFill>
                      <a:srgbClr val="F5F7F9"/>
                    </a:solidFill>
                  </a:tcPr>
                </a:tc>
                <a:tc>
                  <a:txBody>
                    <a:bodyPr/>
                    <a:lstStyle/>
                    <a:p>
                      <a:pPr algn="ctr"/>
                      <a:r>
                        <a:rPr sz="1300">
                          <a:solidFill>
                            <a:srgbClr val="232830"/>
                          </a:solidFill>
                        </a:rPr>
                        <a:t>3.12</a:t>
                      </a:r>
                    </a:p>
                  </a:txBody>
                  <a:tcPr>
                    <a:solidFill>
                      <a:srgbClr val="F5F7F9"/>
                    </a:solidFill>
                  </a:tcPr>
                </a:tc>
                <a:tc>
                  <a:txBody>
                    <a:bodyPr/>
                    <a:lstStyle/>
                    <a:p>
                      <a:pPr algn="ctr"/>
                      <a:r>
                        <a:rPr sz="1300">
                          <a:solidFill>
                            <a:srgbClr val="232830"/>
                          </a:solidFill>
                        </a:rPr>
                        <a:t>5.67</a:t>
                      </a:r>
                    </a:p>
                  </a:txBody>
                  <a:tcPr>
                    <a:solidFill>
                      <a:srgbClr val="F5F7F9"/>
                    </a:solidFill>
                  </a:tcPr>
                </a:tc>
                <a:extLst>
                  <a:ext uri="{0D108BD9-81ED-4DB2-BD59-A6C34878D82A}">
                    <a16:rowId xmlns:a16="http://schemas.microsoft.com/office/drawing/2014/main" val="10006"/>
                  </a:ext>
                </a:extLst>
              </a:tr>
              <a:tr h="507492">
                <a:tc>
                  <a:txBody>
                    <a:bodyPr/>
                    <a:lstStyle/>
                    <a:p>
                      <a:pPr algn="l"/>
                      <a:r>
                        <a:rPr sz="1300">
                          <a:solidFill>
                            <a:srgbClr val="232830"/>
                          </a:solidFill>
                        </a:rPr>
                        <a:t>Avg. Billing</a:t>
                      </a:r>
                    </a:p>
                  </a:txBody>
                  <a:tcPr>
                    <a:solidFill>
                      <a:srgbClr val="FFFFFF"/>
                    </a:solidFill>
                  </a:tcPr>
                </a:tc>
                <a:tc>
                  <a:txBody>
                    <a:bodyPr/>
                    <a:lstStyle/>
                    <a:p>
                      <a:pPr algn="ctr"/>
                      <a:r>
                        <a:rPr sz="1300">
                          <a:solidFill>
                            <a:srgbClr val="232830"/>
                          </a:solidFill>
                        </a:rPr>
                        <a:t>3420.15</a:t>
                      </a:r>
                    </a:p>
                  </a:txBody>
                  <a:tcPr>
                    <a:solidFill>
                      <a:srgbClr val="FFFFFF"/>
                    </a:solidFill>
                  </a:tcPr>
                </a:tc>
                <a:tc>
                  <a:txBody>
                    <a:bodyPr/>
                    <a:lstStyle/>
                    <a:p>
                      <a:pPr algn="ctr"/>
                      <a:r>
                        <a:rPr sz="1300">
                          <a:solidFill>
                            <a:srgbClr val="232830"/>
                          </a:solidFill>
                        </a:rPr>
                        <a:t>5287.43</a:t>
                      </a:r>
                    </a:p>
                  </a:txBody>
                  <a:tcPr>
                    <a:solidFill>
                      <a:srgbClr val="FFFFFF"/>
                    </a:solidFill>
                  </a:tcPr>
                </a:tc>
                <a:extLst>
                  <a:ext uri="{0D108BD9-81ED-4DB2-BD59-A6C34878D82A}">
                    <a16:rowId xmlns:a16="http://schemas.microsoft.com/office/drawing/2014/main" val="10007"/>
                  </a:ext>
                </a:extLst>
              </a:tr>
              <a:tr h="507492">
                <a:tc>
                  <a:txBody>
                    <a:bodyPr/>
                    <a:lstStyle/>
                    <a:p>
                      <a:pPr algn="l"/>
                      <a:r>
                        <a:rPr sz="1300">
                          <a:solidFill>
                            <a:srgbClr val="232830"/>
                          </a:solidFill>
                        </a:rPr>
                        <a:t>Days Since Last Visit</a:t>
                      </a:r>
                    </a:p>
                  </a:txBody>
                  <a:tcPr>
                    <a:solidFill>
                      <a:srgbClr val="F5F7F9"/>
                    </a:solidFill>
                  </a:tcPr>
                </a:tc>
                <a:tc>
                  <a:txBody>
                    <a:bodyPr/>
                    <a:lstStyle/>
                    <a:p>
                      <a:pPr algn="ctr"/>
                      <a:r>
                        <a:rPr sz="1300">
                          <a:solidFill>
                            <a:srgbClr val="232830"/>
                          </a:solidFill>
                        </a:rPr>
                        <a:t>78.62</a:t>
                      </a:r>
                    </a:p>
                  </a:txBody>
                  <a:tcPr>
                    <a:solidFill>
                      <a:srgbClr val="F5F7F9"/>
                    </a:solidFill>
                  </a:tcPr>
                </a:tc>
                <a:tc>
                  <a:txBody>
                    <a:bodyPr/>
                    <a:lstStyle/>
                    <a:p>
                      <a:pPr algn="ctr"/>
                      <a:r>
                        <a:rPr sz="1300">
                          <a:solidFill>
                            <a:srgbClr val="232830"/>
                          </a:solidFill>
                        </a:rPr>
                        <a:t>142.36</a:t>
                      </a:r>
                    </a:p>
                  </a:txBody>
                  <a:tcPr>
                    <a:solidFill>
                      <a:srgbClr val="F5F7F9"/>
                    </a:solidFill>
                  </a:tcPr>
                </a:tc>
                <a:extLst>
                  <a:ext uri="{0D108BD9-81ED-4DB2-BD59-A6C34878D82A}">
                    <a16:rowId xmlns:a16="http://schemas.microsoft.com/office/drawing/2014/main" val="10008"/>
                  </a:ext>
                </a:extLst>
              </a:tr>
              <a:tr h="507492">
                <a:tc>
                  <a:txBody>
                    <a:bodyPr/>
                    <a:lstStyle/>
                    <a:p>
                      <a:pPr algn="l"/>
                      <a:r>
                        <a:rPr sz="1300">
                          <a:solidFill>
                            <a:srgbClr val="232830"/>
                          </a:solidFill>
                        </a:rPr>
                        <a:t>Preventive Care Flag</a:t>
                      </a:r>
                    </a:p>
                  </a:txBody>
                  <a:tcPr>
                    <a:solidFill>
                      <a:srgbClr val="FFFFFF"/>
                    </a:solidFill>
                  </a:tcPr>
                </a:tc>
                <a:tc>
                  <a:txBody>
                    <a:bodyPr/>
                    <a:lstStyle/>
                    <a:p>
                      <a:pPr algn="ctr"/>
                      <a:r>
                        <a:rPr sz="1300">
                          <a:solidFill>
                            <a:srgbClr val="232830"/>
                          </a:solidFill>
                        </a:rPr>
                        <a:t>0.38</a:t>
                      </a:r>
                    </a:p>
                  </a:txBody>
                  <a:tcPr>
                    <a:solidFill>
                      <a:srgbClr val="FFFFFF"/>
                    </a:solidFill>
                  </a:tcPr>
                </a:tc>
                <a:tc>
                  <a:txBody>
                    <a:bodyPr/>
                    <a:lstStyle/>
                    <a:p>
                      <a:pPr algn="ctr"/>
                      <a:r>
                        <a:rPr sz="1300">
                          <a:solidFill>
                            <a:srgbClr val="232830"/>
                          </a:solidFill>
                        </a:rPr>
                        <a:t>0.21</a:t>
                      </a:r>
                    </a:p>
                  </a:txBody>
                  <a:tcPr>
                    <a:solidFill>
                      <a:srgbClr val="FFFFFF"/>
                    </a:solidFill>
                  </a:tcPr>
                </a:tc>
                <a:extLst>
                  <a:ext uri="{0D108BD9-81ED-4DB2-BD59-A6C34878D82A}">
                    <a16:rowId xmlns:a16="http://schemas.microsoft.com/office/drawing/2014/main" val="10009"/>
                  </a:ext>
                </a:extLst>
              </a:tr>
            </a:tbl>
          </a:graphicData>
        </a:graphic>
      </p:graphicFrame>
      <p:sp>
        <p:nvSpPr>
          <p:cNvPr id="6" name="Rectangle 5"/>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10. Cluster Interpretation</a:t>
            </a:r>
          </a:p>
        </p:txBody>
      </p:sp>
      <p:sp>
        <p:nvSpPr>
          <p:cNvPr id="5" name="Rounded Rectangle 4"/>
          <p:cNvSpPr/>
          <p:nvPr/>
        </p:nvSpPr>
        <p:spPr>
          <a:xfrm>
            <a:off x="640080" y="1234440"/>
            <a:ext cx="5349240" cy="448056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Cluster 0 — Profile</a:t>
            </a:r>
          </a:p>
          <a:p>
            <a:pPr>
              <a:spcBef>
                <a:spcPts val="700"/>
              </a:spcBef>
              <a:defRPr sz="1800">
                <a:solidFill>
                  <a:srgbClr val="232830"/>
                </a:solidFill>
                <a:latin typeface="Aptos"/>
              </a:defRPr>
            </a:pPr>
            <a:r>
              <a:t>• Average age: 35.90 years</a:t>
            </a:r>
            <a:br/>
            <a:r>
              <a:t>• Average BMI: 28.88</a:t>
            </a:r>
            <a:br/>
            <a:r>
              <a:t>• Chronic conditions: 1.42</a:t>
            </a:r>
            <a:br/>
            <a:r>
              <a:t>• Annual visits: 3.12</a:t>
            </a:r>
            <a:br/>
            <a:r>
              <a:t>• Average billing: 3420.15</a:t>
            </a:r>
            <a:br/>
            <a:r>
              <a:t>• Preventive-care flag: 0.38</a:t>
            </a:r>
          </a:p>
        </p:txBody>
      </p:sp>
      <p:sp>
        <p:nvSpPr>
          <p:cNvPr id="6" name="Rounded Rectangle 5"/>
          <p:cNvSpPr/>
          <p:nvPr/>
        </p:nvSpPr>
        <p:spPr>
          <a:xfrm>
            <a:off x="6217920" y="1234440"/>
            <a:ext cx="5349240" cy="4480560"/>
          </a:xfrm>
          <a:prstGeom prst="roundRect">
            <a:avLst/>
          </a:prstGeom>
          <a:solidFill>
            <a:srgbClr val="F1EEFA"/>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5C4BA0"/>
                </a:solidFill>
                <a:latin typeface="Aptos Display"/>
              </a:rPr>
              <a:t>Cluster 1 — Profile</a:t>
            </a:r>
          </a:p>
          <a:p>
            <a:pPr>
              <a:spcBef>
                <a:spcPts val="700"/>
              </a:spcBef>
              <a:defRPr sz="1800">
                <a:solidFill>
                  <a:srgbClr val="232830"/>
                </a:solidFill>
                <a:latin typeface="Aptos"/>
              </a:defRPr>
            </a:pPr>
            <a:r>
              <a:t>• Average age: 59.35 years</a:t>
            </a:r>
            <a:br/>
            <a:r>
              <a:t>• Average BMI: 31.82</a:t>
            </a:r>
            <a:br/>
            <a:r>
              <a:t>• Chronic conditions: 2.31</a:t>
            </a:r>
            <a:br/>
            <a:r>
              <a:t>• Annual visits: 5.67</a:t>
            </a:r>
            <a:br/>
            <a:r>
              <a:t>• Average billing: 5287.43</a:t>
            </a:r>
            <a:br/>
            <a:r>
              <a:t>• Preventive-care flag: 0.21</a:t>
            </a:r>
          </a:p>
        </p:txBody>
      </p:sp>
      <p:sp>
        <p:nvSpPr>
          <p:cNvPr id="7" name="TextBox 6"/>
          <p:cNvSpPr txBox="1"/>
          <p:nvPr/>
        </p:nvSpPr>
        <p:spPr>
          <a:xfrm>
            <a:off x="868680" y="5852160"/>
            <a:ext cx="10424160" cy="320040"/>
          </a:xfrm>
          <a:prstGeom prst="rect">
            <a:avLst/>
          </a:prstGeom>
          <a:noFill/>
        </p:spPr>
        <p:txBody>
          <a:bodyPr wrap="square">
            <a:spAutoFit/>
          </a:bodyPr>
          <a:lstStyle/>
          <a:p>
            <a:pPr algn="ctr"/>
            <a:r>
              <a:rPr sz="1300" b="1">
                <a:solidFill>
                  <a:srgbClr val="69707A"/>
                </a:solidFill>
                <a:latin typeface="Aptos"/>
              </a:rPr>
              <a:t>These labels describe observed data profiles; they are not medical diagnoses or treatment recommendations.</a:t>
            </a:r>
          </a:p>
        </p:txBody>
      </p:sp>
      <p:sp>
        <p:nvSpPr>
          <p:cNvPr id="8" name="Rectangle 7"/>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11. Applications &amp; Benefits</a:t>
            </a:r>
          </a:p>
        </p:txBody>
      </p:sp>
      <p:sp>
        <p:nvSpPr>
          <p:cNvPr id="5" name="Rounded Rectangle 4"/>
          <p:cNvSpPr/>
          <p:nvPr/>
        </p:nvSpPr>
        <p:spPr>
          <a:xfrm>
            <a:off x="640080" y="1097280"/>
            <a:ext cx="3474720" cy="448056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Targeted Analysis</a:t>
            </a:r>
          </a:p>
          <a:p>
            <a:pPr>
              <a:spcBef>
                <a:spcPts val="700"/>
              </a:spcBef>
              <a:defRPr sz="1800">
                <a:solidFill>
                  <a:srgbClr val="232830"/>
                </a:solidFill>
                <a:latin typeface="Aptos"/>
              </a:defRPr>
            </a:pPr>
            <a:r>
              <a:t>Identify broad patient groups with similar patterns for analytics and reporting.</a:t>
            </a:r>
          </a:p>
        </p:txBody>
      </p:sp>
      <p:sp>
        <p:nvSpPr>
          <p:cNvPr id="6" name="Rounded Rectangle 5"/>
          <p:cNvSpPr/>
          <p:nvPr/>
        </p:nvSpPr>
        <p:spPr>
          <a:xfrm>
            <a:off x="4343400" y="1097280"/>
            <a:ext cx="3474720" cy="4480560"/>
          </a:xfrm>
          <a:prstGeom prst="roundRect">
            <a:avLst/>
          </a:prstGeom>
          <a:solidFill>
            <a:srgbClr val="E8F6ED"/>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2F7D5A"/>
                </a:solidFill>
                <a:latin typeface="Aptos Display"/>
              </a:rPr>
              <a:t>Resource Planning</a:t>
            </a:r>
          </a:p>
          <a:p>
            <a:pPr>
              <a:spcBef>
                <a:spcPts val="700"/>
              </a:spcBef>
              <a:defRPr sz="1800">
                <a:solidFill>
                  <a:srgbClr val="232830"/>
                </a:solidFill>
                <a:latin typeface="Aptos"/>
              </a:defRPr>
            </a:pPr>
            <a:r>
              <a:t>Use utilization and billing patterns to support data-driven planning.</a:t>
            </a:r>
          </a:p>
        </p:txBody>
      </p:sp>
      <p:sp>
        <p:nvSpPr>
          <p:cNvPr id="7" name="Rounded Rectangle 6"/>
          <p:cNvSpPr/>
          <p:nvPr/>
        </p:nvSpPr>
        <p:spPr>
          <a:xfrm>
            <a:off x="8046720" y="1097280"/>
            <a:ext cx="3474720" cy="4480560"/>
          </a:xfrm>
          <a:prstGeom prst="roundRect">
            <a:avLst/>
          </a:prstGeom>
          <a:solidFill>
            <a:srgbClr val="F1EEFA"/>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5C4BA0"/>
                </a:solidFill>
                <a:latin typeface="Aptos Display"/>
              </a:rPr>
              <a:t>Future Extensions</a:t>
            </a:r>
          </a:p>
          <a:p>
            <a:pPr>
              <a:spcBef>
                <a:spcPts val="700"/>
              </a:spcBef>
              <a:defRPr sz="1800">
                <a:solidFill>
                  <a:srgbClr val="232830"/>
                </a:solidFill>
                <a:latin typeface="Aptos"/>
              </a:defRPr>
            </a:pPr>
            <a:r>
              <a:t>Add more clinical features, compare alternative clustering methods, and validate segments on external data.</a:t>
            </a:r>
          </a:p>
        </p:txBody>
      </p:sp>
      <p:sp>
        <p:nvSpPr>
          <p:cNvPr id="8" name="TextBox 7"/>
          <p:cNvSpPr txBox="1"/>
          <p:nvPr/>
        </p:nvSpPr>
        <p:spPr>
          <a:xfrm>
            <a:off x="914400" y="5806440"/>
            <a:ext cx="10332720" cy="411480"/>
          </a:xfrm>
          <a:prstGeom prst="rect">
            <a:avLst/>
          </a:prstGeom>
          <a:noFill/>
        </p:spPr>
        <p:txBody>
          <a:bodyPr wrap="square">
            <a:spAutoFit/>
          </a:bodyPr>
          <a:lstStyle/>
          <a:p>
            <a:pPr algn="ctr"/>
            <a:r>
              <a:rPr sz="1700" b="1">
                <a:solidFill>
                  <a:srgbClr val="14375F"/>
                </a:solidFill>
                <a:latin typeface="Aptos"/>
              </a:rPr>
              <a:t>The project demonstrates how unsupervised ML can reveal patterns that are difficult to see from raw records alone.</a:t>
            </a:r>
          </a:p>
        </p:txBody>
      </p:sp>
      <p:sp>
        <p:nvSpPr>
          <p:cNvPr id="9" name="Rectangle 8"/>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9052560" cy="457200"/>
          </a:xfrm>
          <a:prstGeom prst="rect">
            <a:avLst/>
          </a:prstGeom>
          <a:noFill/>
        </p:spPr>
        <p:txBody>
          <a:bodyPr wrap="none">
            <a:spAutoFit/>
          </a:bodyPr>
          <a:lstStyle/>
          <a:p>
            <a:r>
              <a:rPr sz="2600" b="1">
                <a:solidFill>
                  <a:srgbClr val="FFFFFF"/>
                </a:solidFill>
                <a:latin typeface="Aptos Display"/>
              </a:rPr>
              <a:t>12. Conclusion &amp; Future Scope</a:t>
            </a:r>
          </a:p>
        </p:txBody>
      </p:sp>
      <p:sp>
        <p:nvSpPr>
          <p:cNvPr id="5" name="Rounded Rectangle 4"/>
          <p:cNvSpPr/>
          <p:nvPr/>
        </p:nvSpPr>
        <p:spPr>
          <a:xfrm>
            <a:off x="640080" y="1097280"/>
            <a:ext cx="5349240" cy="4526280"/>
          </a:xfrm>
          <a:prstGeom prst="roundRect">
            <a:avLst/>
          </a:prstGeom>
          <a:solidFill>
            <a:srgbClr val="E8F2FC"/>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14375F"/>
                </a:solidFill>
                <a:latin typeface="Aptos Display"/>
              </a:rPr>
              <a:t>Conclusion</a:t>
            </a:r>
          </a:p>
          <a:p>
            <a:pPr>
              <a:spcBef>
                <a:spcPts val="700"/>
              </a:spcBef>
              <a:defRPr sz="1700">
                <a:solidFill>
                  <a:srgbClr val="232830"/>
                </a:solidFill>
                <a:latin typeface="Aptos"/>
              </a:defRPr>
            </a:pPr>
            <a:r>
              <a:t>The project successfully processed 2,000 patient records and applied two unsupervised clustering techniques. K-Means and Hierarchical Clustering produced two broad patient segments in the tested configuration. Silhouette analysis and visualizations were used to evaluate and interpret the clustering structure. The resulting profiles show differences in age, BMI, chronic conditions, healthcare utilization, billing, and preventive-care behavior.</a:t>
            </a:r>
          </a:p>
        </p:txBody>
      </p:sp>
      <p:sp>
        <p:nvSpPr>
          <p:cNvPr id="6" name="Rounded Rectangle 5"/>
          <p:cNvSpPr/>
          <p:nvPr/>
        </p:nvSpPr>
        <p:spPr>
          <a:xfrm>
            <a:off x="6217920" y="1097280"/>
            <a:ext cx="5349240" cy="4526280"/>
          </a:xfrm>
          <a:prstGeom prst="roundRect">
            <a:avLst/>
          </a:prstGeom>
          <a:solidFill>
            <a:srgbClr val="E8F6ED"/>
          </a:solidFill>
          <a:ln>
            <a:solidFill>
              <a:srgbClr val="D7E1EB"/>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r>
              <a:rPr sz="1900" b="1">
                <a:solidFill>
                  <a:srgbClr val="2F7D5A"/>
                </a:solidFill>
                <a:latin typeface="Aptos Display"/>
              </a:rPr>
              <a:t>Future Scope</a:t>
            </a:r>
          </a:p>
          <a:p>
            <a:pPr>
              <a:spcBef>
                <a:spcPts val="700"/>
              </a:spcBef>
              <a:defRPr sz="1700">
                <a:solidFill>
                  <a:srgbClr val="232830"/>
                </a:solidFill>
                <a:latin typeface="Aptos"/>
              </a:defRPr>
            </a:pPr>
            <a:r>
              <a:t>• Try K-Medoids, DBSCAN, or other clustering approaches</a:t>
            </a:r>
            <a:br/>
            <a:r>
              <a:t>• Use clinically richer features and validated labels where available</a:t>
            </a:r>
            <a:br/>
            <a:r>
              <a:t>• Explore mixed-data methods such as Gower distance or k-prototypes</a:t>
            </a:r>
            <a:br/>
            <a:r>
              <a:t>• Build an interactive dashboard</a:t>
            </a:r>
            <a:br/>
            <a:r>
              <a:t>• Validate segments on new patient data</a:t>
            </a:r>
          </a:p>
        </p:txBody>
      </p:sp>
      <p:sp>
        <p:nvSpPr>
          <p:cNvPr id="7" name="TextBox 6"/>
          <p:cNvSpPr txBox="1"/>
          <p:nvPr/>
        </p:nvSpPr>
        <p:spPr>
          <a:xfrm>
            <a:off x="640080" y="5806440"/>
            <a:ext cx="10881360" cy="457200"/>
          </a:xfrm>
          <a:prstGeom prst="rect">
            <a:avLst/>
          </a:prstGeom>
          <a:noFill/>
        </p:spPr>
        <p:txBody>
          <a:bodyPr wrap="square">
            <a:spAutoFit/>
          </a:bodyPr>
          <a:lstStyle/>
          <a:p>
            <a:pPr algn="ctr"/>
            <a:r>
              <a:rPr sz="2800" b="1">
                <a:solidFill>
                  <a:srgbClr val="14375F"/>
                </a:solidFill>
                <a:latin typeface="Aptos"/>
              </a:rPr>
              <a:t>Thank You</a:t>
            </a:r>
          </a:p>
        </p:txBody>
      </p:sp>
      <p:sp>
        <p:nvSpPr>
          <p:cNvPr id="8" name="Rectangle 7"/>
          <p:cNvSpPr/>
          <p:nvPr/>
        </p:nvSpPr>
        <p:spPr>
          <a:xfrm>
            <a:off x="0" y="6601968"/>
            <a:ext cx="12191695" cy="256032"/>
          </a:xfrm>
          <a:prstGeom prst="rect">
            <a:avLst/>
          </a:prstGeom>
          <a:solidFill>
            <a:srgbClr val="1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611112"/>
            <a:ext cx="11338560" cy="182880"/>
          </a:xfrm>
          <a:prstGeom prst="rect">
            <a:avLst/>
          </a:prstGeom>
          <a:noFill/>
        </p:spPr>
        <p:txBody>
          <a:bodyPr wrap="none">
            <a:spAutoFit/>
          </a:bodyPr>
          <a:lstStyle/>
          <a:p>
            <a:pPr algn="r"/>
            <a:r>
              <a:rPr sz="900">
                <a:solidFill>
                  <a:srgbClr val="FFFFFF"/>
                </a:solidFill>
                <a:latin typeface="Aptos"/>
              </a:rPr>
              <a:t>Patient Segmentation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1020</Words>
  <Application>Microsoft Office PowerPoint</Application>
  <PresentationFormat>Widescreen</PresentationFormat>
  <Paragraphs>144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Segmentation Using K-Means and Hierarchical Clustering</dc:title>
  <dc:subject>Machine Learning Project Presentation</dc:subject>
  <dc:creator>Student Project</dc:creator>
  <cp:keywords>Patient Segmentation, K-Means, Hierarchical Clustering, Silhouette Score, Machine Learning</cp:keywords>
  <dc:description>generated using python-pptx</dc:description>
  <cp:lastModifiedBy>Singam Charan</cp:lastModifiedBy>
  <cp:revision>2</cp:revision>
  <dcterms:created xsi:type="dcterms:W3CDTF">2013-01-27T09:14:16Z</dcterms:created>
  <dcterms:modified xsi:type="dcterms:W3CDTF">2026-09-23T14:48:14Z</dcterms:modified>
  <cp:category/>
</cp:coreProperties>
</file>